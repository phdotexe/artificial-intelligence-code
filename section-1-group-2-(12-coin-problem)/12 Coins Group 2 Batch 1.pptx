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sldIdLst>
    <p:sldId id="256" r:id="rId2"/>
    <p:sldId id="257" r:id="rId3"/>
    <p:sldId id="258" r:id="rId4"/>
    <p:sldId id="259" r:id="rId5"/>
    <p:sldId id="263" r:id="rId6"/>
    <p:sldId id="26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8" autoAdjust="0"/>
    <p:restoredTop sz="94660"/>
  </p:normalViewPr>
  <p:slideViewPr>
    <p:cSldViewPr snapToGrid="0">
      <p:cViewPr>
        <p:scale>
          <a:sx n="71" d="100"/>
          <a:sy n="71" d="100"/>
        </p:scale>
        <p:origin x="6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3C2F17-E93F-4B50-ACF5-DAFB8C2813C5}"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2152524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3C2F17-E93F-4B50-ACF5-DAFB8C2813C5}"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3732935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tx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73C2F17-E93F-4B50-ACF5-DAFB8C2813C5}"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3199916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989107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3C2F17-E93F-4B50-ACF5-DAFB8C2813C5}" type="datetimeFigureOut">
              <a:rPr lang="en-GB" smtClean="0"/>
              <a:t>12/01/2026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95247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3C2F17-E93F-4B50-ACF5-DAFB8C2813C5}" type="datetimeFigureOut">
              <a:rPr lang="en-GB" smtClean="0"/>
              <a:t>12/01/2026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3922181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73C2F17-E93F-4B50-ACF5-DAFB8C2813C5}" type="datetimeFigureOut">
              <a:rPr lang="en-GB" smtClean="0"/>
              <a:t>12/01/2026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823817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959977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365557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220158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3126703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00842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73C2F17-E93F-4B50-ACF5-DAFB8C2813C5}"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460736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73C2F17-E93F-4B50-ACF5-DAFB8C2813C5}" type="datetimeFigureOut">
              <a:rPr lang="en-GB" smtClean="0"/>
              <a:t>12/01/2026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410047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73C2F17-E93F-4B50-ACF5-DAFB8C2813C5}" type="datetimeFigureOut">
              <a:rPr lang="en-GB" smtClean="0"/>
              <a:t>12/01/2026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915594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3C2F17-E93F-4B50-ACF5-DAFB8C2813C5}"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688696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3C2F17-E93F-4B50-ACF5-DAFB8C2813C5}"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3982969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3C2F17-E93F-4B50-ACF5-DAFB8C2813C5}"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F80EC13B-DA6F-4571-939C-0C484B5B472A}" type="slidenum">
              <a:rPr lang="en-GB" smtClean="0"/>
              <a:t>‹#›</a:t>
            </a:fld>
            <a:endParaRPr lang="en-GB"/>
          </a:p>
        </p:txBody>
      </p:sp>
    </p:spTree>
    <p:extLst>
      <p:ext uri="{BB962C8B-B14F-4D97-AF65-F5344CB8AC3E}">
        <p14:creationId xmlns:p14="http://schemas.microsoft.com/office/powerpoint/2010/main" val="1999676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4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73C2F17-E93F-4B50-ACF5-DAFB8C2813C5}" type="datetimeFigureOut">
              <a:rPr lang="en-GB" smtClean="0"/>
              <a:t>12/01/2026</a:t>
            </a:fld>
            <a:endParaRPr lang="en-GB"/>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GB"/>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F80EC13B-DA6F-4571-939C-0C484B5B472A}" type="slidenum">
              <a:rPr lang="en-GB" smtClean="0"/>
              <a:t>‹#›</a:t>
            </a:fld>
            <a:endParaRPr lang="en-GB"/>
          </a:p>
        </p:txBody>
      </p:sp>
    </p:spTree>
    <p:extLst>
      <p:ext uri="{BB962C8B-B14F-4D97-AF65-F5344CB8AC3E}">
        <p14:creationId xmlns:p14="http://schemas.microsoft.com/office/powerpoint/2010/main" val="399420249"/>
      </p:ext>
    </p:extLst>
  </p:cSld>
  <p:clrMap bg1="dk1" tx1="lt1" bg2="dk2" tx2="lt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 id="2147483941" r:id="rId17"/>
    <p:sldLayoutId id="2147483942"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outerShdw blurRad="38100" dist="38100" dir="2700000" algn="tl">
              <a:srgbClr val="000000">
                <a:alpha val="43137"/>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outerShdw blurRad="47625" dist="12700" dir="2700000" algn="tl" rotWithShape="0">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outerShdw blurRad="47625" dist="12700" dir="2700000" algn="tl" rotWithShape="0">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outerShdw blurRad="47625" dist="12700" dir="2700000" algn="tl" rotWithShape="0">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5EDC-E83B-473D-B9A8-FB7880948582}"/>
              </a:ext>
            </a:extLst>
          </p:cNvPr>
          <p:cNvSpPr>
            <a:spLocks noGrp="1"/>
          </p:cNvSpPr>
          <p:nvPr>
            <p:ph type="ctrTitle"/>
          </p:nvPr>
        </p:nvSpPr>
        <p:spPr/>
        <p:txBody>
          <a:bodyPr/>
          <a:lstStyle/>
          <a:p>
            <a:r>
              <a:rPr lang="en-GB" dirty="0"/>
              <a:t>12 Coins Puzzle</a:t>
            </a:r>
          </a:p>
        </p:txBody>
      </p:sp>
      <p:sp>
        <p:nvSpPr>
          <p:cNvPr id="3" name="Subtitle 2">
            <a:extLst>
              <a:ext uri="{FF2B5EF4-FFF2-40B4-BE49-F238E27FC236}">
                <a16:creationId xmlns:a16="http://schemas.microsoft.com/office/drawing/2014/main" id="{E9FC55DC-637A-472C-A308-29C12E1DFB44}"/>
              </a:ext>
            </a:extLst>
          </p:cNvPr>
          <p:cNvSpPr>
            <a:spLocks noGrp="1"/>
          </p:cNvSpPr>
          <p:nvPr>
            <p:ph type="subTitle" idx="1"/>
          </p:nvPr>
        </p:nvSpPr>
        <p:spPr/>
        <p:txBody>
          <a:bodyPr/>
          <a:lstStyle/>
          <a:p>
            <a:r>
              <a:rPr lang="en-GB" dirty="0"/>
              <a:t>Section 1 Group 2</a:t>
            </a:r>
          </a:p>
        </p:txBody>
      </p:sp>
    </p:spTree>
    <p:extLst>
      <p:ext uri="{BB962C8B-B14F-4D97-AF65-F5344CB8AC3E}">
        <p14:creationId xmlns:p14="http://schemas.microsoft.com/office/powerpoint/2010/main" val="1658081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2E14-CD3C-47BE-A724-0434F1204C68}"/>
              </a:ext>
            </a:extLst>
          </p:cNvPr>
          <p:cNvSpPr>
            <a:spLocks noGrp="1"/>
          </p:cNvSpPr>
          <p:nvPr>
            <p:ph type="title"/>
          </p:nvPr>
        </p:nvSpPr>
        <p:spPr/>
        <p:txBody>
          <a:bodyPr>
            <a:normAutofit fontScale="90000"/>
          </a:bodyPr>
          <a:lstStyle/>
          <a:p>
            <a:br>
              <a:rPr lang="en-GB" dirty="0"/>
            </a:br>
            <a:br>
              <a:rPr lang="en-GB" dirty="0"/>
            </a:br>
            <a:endParaRPr lang="en-GB" dirty="0"/>
          </a:p>
        </p:txBody>
      </p:sp>
      <p:sp>
        <p:nvSpPr>
          <p:cNvPr id="3" name="Content Placeholder 2">
            <a:extLst>
              <a:ext uri="{FF2B5EF4-FFF2-40B4-BE49-F238E27FC236}">
                <a16:creationId xmlns:a16="http://schemas.microsoft.com/office/drawing/2014/main" id="{3075B424-BFF5-4888-953B-604DEF27CEDC}"/>
              </a:ext>
            </a:extLst>
          </p:cNvPr>
          <p:cNvSpPr>
            <a:spLocks noGrp="1"/>
          </p:cNvSpPr>
          <p:nvPr>
            <p:ph idx="1"/>
          </p:nvPr>
        </p:nvSpPr>
        <p:spPr>
          <a:xfrm>
            <a:off x="1295401" y="982132"/>
            <a:ext cx="9601196" cy="4893736"/>
          </a:xfrm>
        </p:spPr>
        <p:txBody>
          <a:bodyPr/>
          <a:lstStyle/>
          <a:p>
            <a:pPr algn="ctr"/>
            <a:r>
              <a:rPr lang="en-GB" dirty="0"/>
              <a:t>Table Of Contents</a:t>
            </a:r>
          </a:p>
          <a:p>
            <a:r>
              <a:rPr lang="en-GB" dirty="0"/>
              <a:t>Introduction</a:t>
            </a:r>
          </a:p>
          <a:p>
            <a:r>
              <a:rPr lang="en-GB" dirty="0"/>
              <a:t>Algorithm</a:t>
            </a:r>
          </a:p>
          <a:p>
            <a:r>
              <a:rPr lang="en-GB" dirty="0"/>
              <a:t> Pseudo Code</a:t>
            </a:r>
          </a:p>
          <a:p>
            <a:r>
              <a:rPr lang="en-GB" dirty="0"/>
              <a:t> Inefficient Approach</a:t>
            </a:r>
          </a:p>
          <a:p>
            <a:r>
              <a:rPr lang="en-GB" dirty="0"/>
              <a:t> Efficient  Approach</a:t>
            </a:r>
          </a:p>
          <a:p>
            <a:r>
              <a:rPr lang="en-GB" dirty="0"/>
              <a:t> Comparison</a:t>
            </a:r>
          </a:p>
          <a:p>
            <a:endParaRPr lang="en-GB" dirty="0"/>
          </a:p>
        </p:txBody>
      </p:sp>
    </p:spTree>
    <p:extLst>
      <p:ext uri="{BB962C8B-B14F-4D97-AF65-F5344CB8AC3E}">
        <p14:creationId xmlns:p14="http://schemas.microsoft.com/office/powerpoint/2010/main" val="3201177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44E1-1587-45AB-B437-53D9F840F06E}"/>
              </a:ext>
            </a:extLst>
          </p:cNvPr>
          <p:cNvSpPr>
            <a:spLocks noGrp="1"/>
          </p:cNvSpPr>
          <p:nvPr>
            <p:ph type="title"/>
          </p:nvPr>
        </p:nvSpPr>
        <p:spPr>
          <a:xfrm>
            <a:off x="1295402" y="982132"/>
            <a:ext cx="9601196" cy="631515"/>
          </a:xfrm>
        </p:spPr>
        <p:txBody>
          <a:bodyPr>
            <a:normAutofit/>
          </a:bodyPr>
          <a:lstStyle/>
          <a:p>
            <a:r>
              <a:rPr lang="en-GB" dirty="0"/>
              <a:t>   </a:t>
            </a:r>
          </a:p>
        </p:txBody>
      </p:sp>
      <p:sp>
        <p:nvSpPr>
          <p:cNvPr id="3" name="Content Placeholder 2">
            <a:extLst>
              <a:ext uri="{FF2B5EF4-FFF2-40B4-BE49-F238E27FC236}">
                <a16:creationId xmlns:a16="http://schemas.microsoft.com/office/drawing/2014/main" id="{BA12A470-0759-4220-B278-FD7FEFA67766}"/>
              </a:ext>
            </a:extLst>
          </p:cNvPr>
          <p:cNvSpPr>
            <a:spLocks noGrp="1"/>
          </p:cNvSpPr>
          <p:nvPr>
            <p:ph idx="1"/>
          </p:nvPr>
        </p:nvSpPr>
        <p:spPr>
          <a:xfrm>
            <a:off x="1295401" y="1089212"/>
            <a:ext cx="9601196" cy="4786656"/>
          </a:xfrm>
        </p:spPr>
        <p:txBody>
          <a:bodyPr/>
          <a:lstStyle/>
          <a:p>
            <a:pPr marL="0" indent="0" algn="ctr">
              <a:buNone/>
            </a:pPr>
            <a:r>
              <a:rPr lang="en-GB" dirty="0"/>
              <a:t>Introduction</a:t>
            </a:r>
          </a:p>
          <a:p>
            <a:pPr marL="0" indent="0">
              <a:buNone/>
            </a:pPr>
            <a:r>
              <a:rPr lang="en-US" dirty="0"/>
              <a:t>The 12 coins problem is a classic puzzle in computer science and mathematics. We are given twelve coins, and we know that one of them is counterfeit. The counterfeit coin is different because it is either heavier or lighter than the rest of the coins, but we don’t know which. To solve the puzzle, we are allowed to use a balance scale to compare groups of coins. The challenge is to identify the counterfeit coin in exactly three </a:t>
            </a:r>
            <a:r>
              <a:rPr lang="en-US" dirty="0" err="1"/>
              <a:t>weighings</a:t>
            </a:r>
            <a:r>
              <a:rPr lang="en-US" dirty="0"/>
              <a:t>. This problem is widely used to demonstrate the importance of efficient algorithms, because while a simple brute force method could eventually find the fake coin, a smarter divide-and-conquer approach guarantees the solution in fewer steps.</a:t>
            </a:r>
            <a:endParaRPr lang="en-GB" dirty="0"/>
          </a:p>
        </p:txBody>
      </p:sp>
    </p:spTree>
    <p:extLst>
      <p:ext uri="{BB962C8B-B14F-4D97-AF65-F5344CB8AC3E}">
        <p14:creationId xmlns:p14="http://schemas.microsoft.com/office/powerpoint/2010/main" val="1382422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1C9A-CB65-4646-A216-93C074AA638C}"/>
              </a:ext>
            </a:extLst>
          </p:cNvPr>
          <p:cNvSpPr>
            <a:spLocks noGrp="1"/>
          </p:cNvSpPr>
          <p:nvPr>
            <p:ph type="title"/>
          </p:nvPr>
        </p:nvSpPr>
        <p:spPr/>
        <p:txBody>
          <a:bodyPr/>
          <a:lstStyle/>
          <a:p>
            <a:r>
              <a:rPr lang="en-GB" dirty="0"/>
              <a:t> </a:t>
            </a:r>
          </a:p>
        </p:txBody>
      </p:sp>
      <p:sp>
        <p:nvSpPr>
          <p:cNvPr id="3" name="Content Placeholder 2">
            <a:extLst>
              <a:ext uri="{FF2B5EF4-FFF2-40B4-BE49-F238E27FC236}">
                <a16:creationId xmlns:a16="http://schemas.microsoft.com/office/drawing/2014/main" id="{BF5A1D1F-19A2-4E1F-82E1-DA38AB19F6D3}"/>
              </a:ext>
            </a:extLst>
          </p:cNvPr>
          <p:cNvSpPr>
            <a:spLocks noGrp="1"/>
          </p:cNvSpPr>
          <p:nvPr>
            <p:ph idx="1"/>
          </p:nvPr>
        </p:nvSpPr>
        <p:spPr>
          <a:xfrm>
            <a:off x="1295401" y="860612"/>
            <a:ext cx="9601196" cy="5373278"/>
          </a:xfrm>
        </p:spPr>
        <p:txBody>
          <a:bodyPr>
            <a:normAutofit fontScale="85000" lnSpcReduction="20000"/>
          </a:bodyPr>
          <a:lstStyle/>
          <a:p>
            <a:pPr marL="0" indent="0" algn="ctr">
              <a:buNone/>
            </a:pPr>
            <a:r>
              <a:rPr lang="en-GB" sz="2200" b="1" dirty="0"/>
              <a:t>Algorithm</a:t>
            </a:r>
          </a:p>
          <a:p>
            <a:r>
              <a:rPr lang="en-GB" dirty="0"/>
              <a:t> </a:t>
            </a:r>
            <a:r>
              <a:rPr lang="en-GB" b="1" dirty="0"/>
              <a:t>Step 1 : </a:t>
            </a:r>
            <a:r>
              <a:rPr lang="en-US" dirty="0"/>
              <a:t>Divide the 12 coins into 3 groups of 4 (Group A, Group B, Group C).</a:t>
            </a:r>
          </a:p>
          <a:p>
            <a:r>
              <a:rPr lang="en-US" dirty="0"/>
              <a:t> </a:t>
            </a:r>
            <a:r>
              <a:rPr lang="en-US" b="1" dirty="0"/>
              <a:t>Step 2:</a:t>
            </a:r>
            <a:r>
              <a:rPr lang="en-US" dirty="0"/>
              <a:t> Weigh Group A against Group B.</a:t>
            </a:r>
          </a:p>
          <a:p>
            <a:pPr marL="0" indent="0">
              <a:buNone/>
            </a:pPr>
            <a:r>
              <a:rPr lang="en-US" dirty="0"/>
              <a:t>        If equal, counterfeit is in Group C</a:t>
            </a:r>
          </a:p>
          <a:p>
            <a:pPr marL="0" indent="0">
              <a:buNone/>
            </a:pPr>
            <a:r>
              <a:rPr lang="en-US" dirty="0"/>
              <a:t>        If not equal, counterfeit is in the heavier or lighter group</a:t>
            </a:r>
          </a:p>
          <a:p>
            <a:pPr marL="0" indent="0">
              <a:buNone/>
            </a:pPr>
            <a:r>
              <a:rPr lang="en-US" dirty="0"/>
              <a:t> </a:t>
            </a:r>
          </a:p>
          <a:p>
            <a:r>
              <a:rPr lang="en-US" dirty="0"/>
              <a:t> </a:t>
            </a:r>
            <a:r>
              <a:rPr lang="en-US" b="1" dirty="0"/>
              <a:t>Step 3:</a:t>
            </a:r>
            <a:r>
              <a:rPr lang="en-US" dirty="0"/>
              <a:t> Take 3 coins from the suspect group and weigh them against 3 known-good coins.</a:t>
            </a:r>
          </a:p>
          <a:p>
            <a:pPr marL="0" indent="0">
              <a:buNone/>
            </a:pPr>
            <a:r>
              <a:rPr lang="en-US" dirty="0"/>
              <a:t>       If equal → counterfeit is the leftover coin.</a:t>
            </a:r>
          </a:p>
          <a:p>
            <a:pPr marL="0" indent="0">
              <a:buNone/>
            </a:pPr>
            <a:r>
              <a:rPr lang="en-US" dirty="0"/>
              <a:t>       If not equal → counterfeit is among the 3 coins on the scale.</a:t>
            </a:r>
          </a:p>
          <a:p>
            <a:pPr marL="0" indent="0">
              <a:buNone/>
            </a:pPr>
            <a:r>
              <a:rPr lang="en-US" dirty="0"/>
              <a:t> </a:t>
            </a:r>
          </a:p>
          <a:p>
            <a:r>
              <a:rPr lang="en-GB" dirty="0"/>
              <a:t> </a:t>
            </a:r>
            <a:r>
              <a:rPr lang="en-US" b="1" dirty="0"/>
              <a:t>Step 4:</a:t>
            </a:r>
            <a:r>
              <a:rPr lang="en-US" dirty="0"/>
              <a:t> Compare 1 coin against 1 coin from the suspect set.</a:t>
            </a:r>
          </a:p>
          <a:p>
            <a:pPr marL="0" indent="0">
              <a:buNone/>
            </a:pPr>
            <a:r>
              <a:rPr lang="en-US" dirty="0"/>
              <a:t>       If equal → the third is counterfeit</a:t>
            </a:r>
          </a:p>
          <a:p>
            <a:pPr marL="0" indent="0">
              <a:buNone/>
            </a:pPr>
            <a:r>
              <a:rPr lang="en-US" dirty="0"/>
              <a:t>       If not equal → whichever side is heavier or lighter reveals the counterfeit</a:t>
            </a:r>
            <a:endParaRPr lang="en-GB" dirty="0"/>
          </a:p>
        </p:txBody>
      </p:sp>
    </p:spTree>
    <p:extLst>
      <p:ext uri="{BB962C8B-B14F-4D97-AF65-F5344CB8AC3E}">
        <p14:creationId xmlns:p14="http://schemas.microsoft.com/office/powerpoint/2010/main" val="1988563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F88F8-DDA4-4DB9-A71C-95BE987C9172}"/>
              </a:ext>
            </a:extLst>
          </p:cNvPr>
          <p:cNvSpPr>
            <a:spLocks noGrp="1"/>
          </p:cNvSpPr>
          <p:nvPr>
            <p:ph type="title"/>
          </p:nvPr>
        </p:nvSpPr>
        <p:spPr>
          <a:xfrm>
            <a:off x="2592925" y="664450"/>
            <a:ext cx="8911687" cy="5938055"/>
          </a:xfrm>
        </p:spPr>
        <p:txBody>
          <a:bodyPr/>
          <a:lstStyle/>
          <a:p>
            <a:r>
              <a:rPr lang="en-GB" dirty="0"/>
              <a:t> </a:t>
            </a:r>
          </a:p>
        </p:txBody>
      </p:sp>
      <p:sp>
        <p:nvSpPr>
          <p:cNvPr id="3" name="Content Placeholder 2">
            <a:extLst>
              <a:ext uri="{FF2B5EF4-FFF2-40B4-BE49-F238E27FC236}">
                <a16:creationId xmlns:a16="http://schemas.microsoft.com/office/drawing/2014/main" id="{F9355BDF-0BE2-47AF-858D-3D32A89FD8C2}"/>
              </a:ext>
            </a:extLst>
          </p:cNvPr>
          <p:cNvSpPr>
            <a:spLocks noGrp="1"/>
          </p:cNvSpPr>
          <p:nvPr>
            <p:ph idx="1"/>
          </p:nvPr>
        </p:nvSpPr>
        <p:spPr>
          <a:xfrm>
            <a:off x="2589212" y="524435"/>
            <a:ext cx="8915400" cy="5386787"/>
          </a:xfrm>
        </p:spPr>
        <p:txBody>
          <a:bodyPr/>
          <a:lstStyle/>
          <a:p>
            <a:pPr marL="0" indent="0" algn="ctr">
              <a:buNone/>
            </a:pPr>
            <a:r>
              <a:rPr lang="en-GB" dirty="0"/>
              <a:t> </a:t>
            </a:r>
            <a:r>
              <a:rPr lang="en-GB" b="1" dirty="0"/>
              <a:t>Comparison of THE Complexities</a:t>
            </a:r>
          </a:p>
          <a:p>
            <a:pPr marL="0" indent="0" algn="ctr">
              <a:buNone/>
            </a:pPr>
            <a:endParaRPr lang="en-GB" b="1" dirty="0"/>
          </a:p>
          <a:p>
            <a:pPr marL="0" indent="0" algn="ctr">
              <a:buNone/>
            </a:pPr>
            <a:endParaRPr lang="en-GB" b="1" dirty="0"/>
          </a:p>
          <a:p>
            <a:pPr marL="0" indent="0" algn="ctr">
              <a:buNone/>
            </a:pPr>
            <a:endParaRPr lang="en-GB" dirty="0"/>
          </a:p>
        </p:txBody>
      </p:sp>
      <p:graphicFrame>
        <p:nvGraphicFramePr>
          <p:cNvPr id="4" name="Table 4">
            <a:extLst>
              <a:ext uri="{FF2B5EF4-FFF2-40B4-BE49-F238E27FC236}">
                <a16:creationId xmlns:a16="http://schemas.microsoft.com/office/drawing/2014/main" id="{9B88217E-345B-4712-939C-3F4FD091A1EC}"/>
              </a:ext>
            </a:extLst>
          </p:cNvPr>
          <p:cNvGraphicFramePr>
            <a:graphicFrameLocks noGrp="1"/>
          </p:cNvGraphicFramePr>
          <p:nvPr>
            <p:extLst>
              <p:ext uri="{D42A27DB-BD31-4B8C-83A1-F6EECF244321}">
                <p14:modId xmlns:p14="http://schemas.microsoft.com/office/powerpoint/2010/main" val="4168516881"/>
              </p:ext>
            </p:extLst>
          </p:nvPr>
        </p:nvGraphicFramePr>
        <p:xfrm>
          <a:off x="2589212" y="1607172"/>
          <a:ext cx="8127999" cy="19202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264533640"/>
                    </a:ext>
                  </a:extLst>
                </a:gridCol>
                <a:gridCol w="2709333">
                  <a:extLst>
                    <a:ext uri="{9D8B030D-6E8A-4147-A177-3AD203B41FA5}">
                      <a16:colId xmlns:a16="http://schemas.microsoft.com/office/drawing/2014/main" val="3815109577"/>
                    </a:ext>
                  </a:extLst>
                </a:gridCol>
                <a:gridCol w="2709333">
                  <a:extLst>
                    <a:ext uri="{9D8B030D-6E8A-4147-A177-3AD203B41FA5}">
                      <a16:colId xmlns:a16="http://schemas.microsoft.com/office/drawing/2014/main" val="1658703266"/>
                    </a:ext>
                  </a:extLst>
                </a:gridCol>
              </a:tblGrid>
              <a:tr h="369546">
                <a:tc>
                  <a:txBody>
                    <a:bodyPr/>
                    <a:lstStyle/>
                    <a:p>
                      <a:r>
                        <a:rPr lang="en-GB" dirty="0">
                          <a:effectLst/>
                        </a:rPr>
                        <a:t>Complexity Type</a:t>
                      </a:r>
                      <a:endParaRPr lang="en-GB" dirty="0"/>
                    </a:p>
                  </a:txBody>
                  <a:tcPr/>
                </a:tc>
                <a:tc>
                  <a:txBody>
                    <a:bodyPr/>
                    <a:lstStyle/>
                    <a:p>
                      <a:r>
                        <a:rPr lang="en-GB" dirty="0">
                          <a:effectLst/>
                        </a:rPr>
                        <a:t>Brute Force Approach</a:t>
                      </a:r>
                      <a:endParaRPr lang="en-GB" dirty="0"/>
                    </a:p>
                  </a:txBody>
                  <a:tcPr/>
                </a:tc>
                <a:tc>
                  <a:txBody>
                    <a:bodyPr/>
                    <a:lstStyle/>
                    <a:p>
                      <a:r>
                        <a:rPr lang="en-GB" dirty="0">
                          <a:effectLst/>
                        </a:rPr>
                        <a:t>Efficient Divide &amp; Conquer Approach</a:t>
                      </a:r>
                      <a:endParaRPr lang="en-GB" dirty="0"/>
                    </a:p>
                  </a:txBody>
                  <a:tcPr/>
                </a:tc>
                <a:extLst>
                  <a:ext uri="{0D108BD9-81ED-4DB2-BD59-A6C34878D82A}">
                    <a16:rowId xmlns:a16="http://schemas.microsoft.com/office/drawing/2014/main" val="2061044286"/>
                  </a:ext>
                </a:extLst>
              </a:tr>
              <a:tr h="370840">
                <a:tc>
                  <a:txBody>
                    <a:bodyPr/>
                    <a:lstStyle/>
                    <a:p>
                      <a:r>
                        <a:rPr lang="en-GB" dirty="0"/>
                        <a:t>Time Complexity</a:t>
                      </a:r>
                    </a:p>
                  </a:txBody>
                  <a:tcPr/>
                </a:tc>
                <a:tc>
                  <a:txBody>
                    <a:bodyPr/>
                    <a:lstStyle/>
                    <a:p>
                      <a:r>
                        <a:rPr lang="en-US" dirty="0">
                          <a:effectLst/>
                        </a:rPr>
                        <a:t>O(n) — grows linearly with number of coins</a:t>
                      </a:r>
                      <a:endParaRPr lang="en-GB" dirty="0"/>
                    </a:p>
                  </a:txBody>
                  <a:tcPr/>
                </a:tc>
                <a:tc>
                  <a:txBody>
                    <a:bodyPr/>
                    <a:lstStyle/>
                    <a:p>
                      <a:r>
                        <a:rPr lang="en-US" dirty="0">
                          <a:effectLst/>
                        </a:rPr>
                        <a:t>O(</a:t>
                      </a:r>
                      <a:r>
                        <a:rPr lang="en-US" dirty="0" err="1">
                          <a:effectLst/>
                        </a:rPr>
                        <a:t>log⁡n</a:t>
                      </a:r>
                      <a:r>
                        <a:rPr lang="en-US" dirty="0">
                          <a:effectLst/>
                        </a:rPr>
                        <a:t>) — grows much slower, only 3 </a:t>
                      </a:r>
                      <a:r>
                        <a:rPr lang="en-US" dirty="0" err="1">
                          <a:effectLst/>
                        </a:rPr>
                        <a:t>weighings</a:t>
                      </a:r>
                      <a:endParaRPr lang="en-GB" dirty="0"/>
                    </a:p>
                  </a:txBody>
                  <a:tcPr/>
                </a:tc>
                <a:extLst>
                  <a:ext uri="{0D108BD9-81ED-4DB2-BD59-A6C34878D82A}">
                    <a16:rowId xmlns:a16="http://schemas.microsoft.com/office/drawing/2014/main" val="1638083924"/>
                  </a:ext>
                </a:extLst>
              </a:tr>
              <a:tr h="370840">
                <a:tc>
                  <a:txBody>
                    <a:bodyPr/>
                    <a:lstStyle/>
                    <a:p>
                      <a:r>
                        <a:rPr lang="en-GB" dirty="0"/>
                        <a:t>Space Complexity</a:t>
                      </a:r>
                    </a:p>
                  </a:txBody>
                  <a:tcPr/>
                </a:tc>
                <a:tc>
                  <a:txBody>
                    <a:bodyPr/>
                    <a:lstStyle/>
                    <a:p>
                      <a:r>
                        <a:rPr lang="en-US" dirty="0">
                          <a:effectLst/>
                        </a:rPr>
                        <a:t>O(1) — only balance scale used</a:t>
                      </a:r>
                      <a:endParaRPr lang="en-GB" dirty="0"/>
                    </a:p>
                  </a:txBody>
                  <a:tcPr/>
                </a:tc>
                <a:tc>
                  <a:txBody>
                    <a:bodyPr/>
                    <a:lstStyle/>
                    <a:p>
                      <a:r>
                        <a:rPr lang="en-US" dirty="0">
                          <a:effectLst/>
                        </a:rPr>
                        <a:t>O(1) — only balance scale used</a:t>
                      </a:r>
                      <a:endParaRPr lang="en-GB" dirty="0"/>
                    </a:p>
                  </a:txBody>
                  <a:tcPr/>
                </a:tc>
                <a:extLst>
                  <a:ext uri="{0D108BD9-81ED-4DB2-BD59-A6C34878D82A}">
                    <a16:rowId xmlns:a16="http://schemas.microsoft.com/office/drawing/2014/main" val="3132646845"/>
                  </a:ext>
                </a:extLst>
              </a:tr>
            </a:tbl>
          </a:graphicData>
        </a:graphic>
      </p:graphicFrame>
    </p:spTree>
    <p:extLst>
      <p:ext uri="{BB962C8B-B14F-4D97-AF65-F5344CB8AC3E}">
        <p14:creationId xmlns:p14="http://schemas.microsoft.com/office/powerpoint/2010/main" val="3318518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4DF3A-B3DE-4F7B-A524-85C09212C7A3}"/>
              </a:ext>
            </a:extLst>
          </p:cNvPr>
          <p:cNvSpPr>
            <a:spLocks noGrp="1"/>
          </p:cNvSpPr>
          <p:nvPr>
            <p:ph type="title"/>
          </p:nvPr>
        </p:nvSpPr>
        <p:spPr/>
        <p:txBody>
          <a:bodyPr/>
          <a:lstStyle/>
          <a:p>
            <a:r>
              <a:rPr lang="en-GB" dirty="0"/>
              <a:t> </a:t>
            </a:r>
          </a:p>
        </p:txBody>
      </p:sp>
      <p:sp>
        <p:nvSpPr>
          <p:cNvPr id="3" name="Content Placeholder 2">
            <a:extLst>
              <a:ext uri="{FF2B5EF4-FFF2-40B4-BE49-F238E27FC236}">
                <a16:creationId xmlns:a16="http://schemas.microsoft.com/office/drawing/2014/main" id="{32C9F9B3-C9CD-4E60-BE3A-9033C3ECAFC1}"/>
              </a:ext>
            </a:extLst>
          </p:cNvPr>
          <p:cNvSpPr>
            <a:spLocks noGrp="1"/>
          </p:cNvSpPr>
          <p:nvPr>
            <p:ph idx="1"/>
          </p:nvPr>
        </p:nvSpPr>
        <p:spPr/>
        <p:txBody>
          <a:bodyPr>
            <a:normAutofit/>
          </a:bodyPr>
          <a:lstStyle/>
          <a:p>
            <a:pPr algn="ctr"/>
            <a:r>
              <a:rPr lang="en-GB" sz="4000" dirty="0"/>
              <a:t>THANKS FOR LISTENING</a:t>
            </a:r>
          </a:p>
        </p:txBody>
      </p:sp>
    </p:spTree>
    <p:extLst>
      <p:ext uri="{BB962C8B-B14F-4D97-AF65-F5344CB8AC3E}">
        <p14:creationId xmlns:p14="http://schemas.microsoft.com/office/powerpoint/2010/main" val="299589175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4B4B4B"/>
      </a:dk2>
      <a:lt2>
        <a:srgbClr val="B5B5B5"/>
      </a:lt2>
      <a:accent1>
        <a:srgbClr val="9AC43E"/>
      </a:accent1>
      <a:accent2>
        <a:srgbClr val="44BA98"/>
      </a:accent2>
      <a:accent3>
        <a:srgbClr val="43A9D9"/>
      </a:accent3>
      <a:accent4>
        <a:srgbClr val="6274D8"/>
      </a:accent4>
      <a:accent5>
        <a:srgbClr val="AB54D7"/>
      </a:accent5>
      <a:accent6>
        <a:srgbClr val="D15B37"/>
      </a:accent6>
      <a:hlink>
        <a:srgbClr val="BFE962"/>
      </a:hlink>
      <a:folHlink>
        <a:srgbClr val="C0D591"/>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892FADA9-420D-4323-A7A4-C1060166525B}"/>
    </a:ext>
  </a:extLst>
</a:theme>
</file>

<file path=docProps/app.xml><?xml version="1.0" encoding="utf-8"?>
<Properties xmlns="http://schemas.openxmlformats.org/officeDocument/2006/extended-properties" xmlns:vt="http://schemas.openxmlformats.org/officeDocument/2006/docPropsVTypes">
  <Template>TM04033925[[fn=Droplet]]</Template>
  <TotalTime>422</TotalTime>
  <Words>358</Words>
  <Application>Microsoft Office PowerPoint</Application>
  <PresentationFormat>Widescreen</PresentationFormat>
  <Paragraphs>41</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Droplet</vt:lpstr>
      <vt:lpstr>12 Coins Puzzle</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Coins</dc:title>
  <dc:creator>Nwando Azoka</dc:creator>
  <cp:lastModifiedBy>ELIEZER  AJIKAN</cp:lastModifiedBy>
  <cp:revision>12</cp:revision>
  <dcterms:created xsi:type="dcterms:W3CDTF">2026-01-11T18:08:35Z</dcterms:created>
  <dcterms:modified xsi:type="dcterms:W3CDTF">2026-01-12T13:32:25Z</dcterms:modified>
</cp:coreProperties>
</file>